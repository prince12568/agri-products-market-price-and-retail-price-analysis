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2D5A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5A4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8C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82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622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7EB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3A2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B6B9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Vegetables</c:v>
                  </c:pt>
                  <c:pt idx="1">
                    <c:v>Fruits</c:v>
                  </c:pt>
                  <c:pt idx="2">
                    <c:v>Spices</c:v>
                  </c:pt>
                  <c:pt idx="3">
                    <c:v>Pulses</c:v>
                  </c:pt>
                  <c:pt idx="4">
                    <c:v>Cereals</c:v>
                  </c:pt>
                  <c:pt idx="5">
                    <c:v>Livestock</c:v>
                  </c:pt>
                  <c:pt idx="6">
                    <c:v>Flowers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</c:v>
                </c:pt>
                <c:pt idx="1">
                  <c:v>32</c:v>
                </c:pt>
                <c:pt idx="2">
                  <c:v>27</c:v>
                </c:pt>
                <c:pt idx="3">
                  <c:v>25</c:v>
                </c:pt>
                <c:pt idx="4">
                  <c:v>17</c:v>
                </c:pt>
                <c:pt idx="5">
                  <c:v>7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5A40"/>
              </a:solidFill>
              <a:effectLst/>
            </c:spPr>
          </c:dPt>
          <c:dPt>
            <c:idx val="1"/>
            <c:bubble3D val="0"/>
            <c:spPr>
              <a:solidFill>
                <a:srgbClr val="4A8C5C"/>
              </a:solidFill>
              <a:effectLst/>
            </c:spPr>
          </c:dPt>
          <c:dPt>
            <c:idx val="2"/>
            <c:bubble3D val="0"/>
            <c:spPr>
              <a:solidFill>
                <a:srgbClr val="C8DFC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No Cold Storage</c:v>
                </c:pt>
                <c:pt idx="1">
                  <c:v>Cold Storage Safe</c:v>
                </c:pt>
                <c:pt idx="2">
                  <c:v>Cold Sensitive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77</c:v>
                </c:pt>
                <c:pt idx="1">
                  <c:v>61</c:v>
                </c:pt>
                <c:pt idx="2">
                  <c:v>27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5A5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Price (₹/kg)</c:v>
                </c:pt>
              </c:strCache>
            </c:strRef>
          </c:tx>
          <c:spPr>
            <a:solidFill>
              <a:srgbClr val="4A8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Cereals</c:v>
                  </c:pt>
                  <c:pt idx="1">
                    <c:v>Flowers</c:v>
                  </c:pt>
                  <c:pt idx="2">
                    <c:v>Fruits</c:v>
                  </c:pt>
                  <c:pt idx="3">
                    <c:v>Livestock</c:v>
                  </c:pt>
                  <c:pt idx="4">
                    <c:v>Pulses</c:v>
                  </c:pt>
                  <c:pt idx="5">
                    <c:v>Spices</c:v>
                  </c:pt>
                  <c:pt idx="6">
                    <c:v>Vegetables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34.87</c:v>
                </c:pt>
                <c:pt idx="1">
                  <c:v>22.5</c:v>
                </c:pt>
                <c:pt idx="2">
                  <c:v>139.87</c:v>
                </c:pt>
                <c:pt idx="3">
                  <c:v>300.5</c:v>
                </c:pt>
                <c:pt idx="4">
                  <c:v>62.66</c:v>
                </c:pt>
                <c:pt idx="5">
                  <c:v>266.05</c:v>
                </c:pt>
                <c:pt idx="6">
                  <c:v>33.72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Retail Price (₹/kg)</c:v>
                </c:pt>
              </c:strCache>
            </c:strRef>
          </c:tx>
          <c:spPr>
            <a:solidFill>
              <a:srgbClr val="C88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Cereals</c:v>
                  </c:pt>
                  <c:pt idx="1">
                    <c:v>Flowers</c:v>
                  </c:pt>
                  <c:pt idx="2">
                    <c:v>Fruits</c:v>
                  </c:pt>
                  <c:pt idx="3">
                    <c:v>Livestock</c:v>
                  </c:pt>
                  <c:pt idx="4">
                    <c:v>Pulses</c:v>
                  </c:pt>
                  <c:pt idx="5">
                    <c:v>Spices</c:v>
                  </c:pt>
                  <c:pt idx="6">
                    <c:v>Vegetables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81.76</c:v>
                </c:pt>
                <c:pt idx="1">
                  <c:v>199.25</c:v>
                </c:pt>
                <c:pt idx="2">
                  <c:v>236.25</c:v>
                </c:pt>
                <c:pt idx="3">
                  <c:v>636.43</c:v>
                </c:pt>
                <c:pt idx="4">
                  <c:v>122.8</c:v>
                </c:pt>
                <c:pt idx="5">
                  <c:v>384.07</c:v>
                </c:pt>
                <c:pt idx="6">
                  <c:v>85.04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5A5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2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3A2F"/>
                </a:solidFill>
                <a:latin typeface="Arial"/>
              </a:rPr>
              <a:t>Market Price Distribution (₹/kg)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2D5A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5A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0–50</c:v>
                  </c:pt>
                  <c:pt idx="1">
                    <c:v>50–100</c:v>
                  </c:pt>
                  <c:pt idx="2">
                    <c:v>100–200</c:v>
                  </c:pt>
                  <c:pt idx="3">
                    <c:v>200–400</c:v>
                  </c:pt>
                  <c:pt idx="4">
                    <c:v>400–700</c:v>
                  </c:pt>
                  <c:pt idx="5">
                    <c:v>700–1100</c:v>
                  </c:pt>
                  <c:pt idx="6">
                    <c:v>1100+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</c:v>
                </c:pt>
                <c:pt idx="1">
                  <c:v>25</c:v>
                </c:pt>
                <c:pt idx="2">
                  <c:v>22</c:v>
                </c:pt>
                <c:pt idx="3">
                  <c:v>14</c:v>
                </c:pt>
                <c:pt idx="4">
                  <c:v>8</c:v>
                </c:pt>
                <c:pt idx="5">
                  <c:v>5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A5A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2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3A2F"/>
                </a:solidFill>
                <a:latin typeface="Arial"/>
              </a:rPr>
              <a:t>Retail Price Distribution (₹/kg)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C88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5A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0–100</c:v>
                  </c:pt>
                  <c:pt idx="1">
                    <c:v>100–200</c:v>
                  </c:pt>
                  <c:pt idx="2">
                    <c:v>200–300</c:v>
                  </c:pt>
                  <c:pt idx="3">
                    <c:v>300–500</c:v>
                  </c:pt>
                  <c:pt idx="4">
                    <c:v>500–700</c:v>
                  </c:pt>
                  <c:pt idx="5">
                    <c:v>700–1000</c:v>
                  </c:pt>
                  <c:pt idx="6">
                    <c:v>1000+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92</c:v>
                </c:pt>
                <c:pt idx="1">
                  <c:v>36</c:v>
                </c:pt>
                <c:pt idx="2">
                  <c:v>17</c:v>
                </c:pt>
                <c:pt idx="3">
                  <c:v>8</c:v>
                </c:pt>
                <c:pt idx="4">
                  <c:v>5</c:v>
                </c:pt>
                <c:pt idx="5">
                  <c:v>3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A5A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Markup (×)</c:v>
                </c:pt>
              </c:strCache>
            </c:strRef>
          </c:tx>
          <c:spPr>
            <a:solidFill>
              <a:srgbClr val="1E3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6B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8C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5A4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7EB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821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4622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Livestock</c:v>
                  </c:pt>
                  <c:pt idx="1">
                    <c:v>Flowers</c:v>
                  </c:pt>
                  <c:pt idx="2">
                    <c:v>Fruits</c:v>
                  </c:pt>
                  <c:pt idx="3">
                    <c:v>Vegetables</c:v>
                  </c:pt>
                  <c:pt idx="4">
                    <c:v>Cereals</c:v>
                  </c:pt>
                  <c:pt idx="5">
                    <c:v>Spices</c:v>
                  </c:pt>
                  <c:pt idx="6">
                    <c:v>Pulses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16.37</c:v>
                </c:pt>
                <c:pt idx="1">
                  <c:v>7.82</c:v>
                </c:pt>
                <c:pt idx="2">
                  <c:v>3.45</c:v>
                </c:pt>
                <c:pt idx="3">
                  <c:v>2.42</c:v>
                </c:pt>
                <c:pt idx="4">
                  <c:v>1.85</c:v>
                </c:pt>
                <c:pt idx="5">
                  <c:v>1.41</c:v>
                </c:pt>
                <c:pt idx="6">
                  <c:v>1.23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2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3A2F"/>
                </a:solidFill>
                <a:latin typeface="Arial"/>
              </a:rPr>
              <a:t>Markup by Storage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Markup (×)</c:v>
                </c:pt>
              </c:strCache>
            </c:strRef>
          </c:tx>
          <c:spPr>
            <a:solidFill>
              <a:srgbClr val="4A8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5A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8C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DF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5A4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Cold Storage Safe</c:v>
                  </c:pt>
                  <c:pt idx="1">
                    <c:v>Cold Sensitive</c:v>
                  </c:pt>
                  <c:pt idx="2">
                    <c:v>No Cold Storage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4.61</c:v>
                </c:pt>
                <c:pt idx="1">
                  <c:v>2.83</c:v>
                </c:pt>
                <c:pt idx="2">
                  <c:v>1.52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A5A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8DF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5A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DF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0C8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8C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5A4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3A2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821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4622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300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0–1×</c:v>
                  </c:pt>
                  <c:pt idx="1">
                    <c:v>1–2×</c:v>
                  </c:pt>
                  <c:pt idx="2">
                    <c:v>2–5×</c:v>
                  </c:pt>
                  <c:pt idx="3">
                    <c:v>5–10×</c:v>
                  </c:pt>
                  <c:pt idx="4">
                    <c:v>10–20×</c:v>
                  </c:pt>
                  <c:pt idx="5">
                    <c:v>20–30×</c:v>
                  </c:pt>
                  <c:pt idx="6">
                    <c:v>30–50×</c:v>
                  </c:pt>
                  <c:pt idx="7">
                    <c:v>50–60×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102</c:v>
                </c:pt>
                <c:pt idx="1">
                  <c:v>41</c:v>
                </c:pt>
                <c:pt idx="2">
                  <c:v>12</c:v>
                </c:pt>
                <c:pt idx="3">
                  <c:v>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A5A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2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3A2F"/>
                </a:solidFill>
                <a:latin typeface="Arial"/>
              </a:rPr>
              <a:t>Products per Season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1E3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A5A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5A4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8C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82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622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C46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All-season</c:v>
                  </c:pt>
                  <c:pt idx="1">
                    <c:v>Seasonal</c:v>
                  </c:pt>
                  <c:pt idx="2">
                    <c:v>Multi-season</c:v>
                  </c:pt>
                  <c:pt idx="3">
                    <c:v>Kharif</c:v>
                  </c:pt>
                  <c:pt idx="4">
                    <c:v>Rabi</c:v>
                  </c:pt>
                  <c:pt idx="5">
                    <c:v>Kharif/Rabi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34</c:v>
                </c:pt>
                <c:pt idx="2">
                  <c:v>24</c:v>
                </c:pt>
                <c:pt idx="3">
                  <c:v>21</c:v>
                </c:pt>
                <c:pt idx="4">
                  <c:v>22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A5A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2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3A2F"/>
                </a:solidFill>
                <a:latin typeface="Arial"/>
              </a:rPr>
              <a:t>Avg Markup by Season (×)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Markup (×)</c:v>
                </c:pt>
              </c:strCache>
            </c:strRef>
          </c:tx>
          <c:spPr>
            <a:solidFill>
              <a:srgbClr val="1E3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A5A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5A4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8C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82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622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C46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All-season</c:v>
                  </c:pt>
                  <c:pt idx="1">
                    <c:v>Seasonal</c:v>
                  </c:pt>
                  <c:pt idx="2">
                    <c:v>Multi-season</c:v>
                  </c:pt>
                  <c:pt idx="3">
                    <c:v>Kharif</c:v>
                  </c:pt>
                  <c:pt idx="4">
                    <c:v>Rabi</c:v>
                  </c:pt>
                  <c:pt idx="5">
                    <c:v>Kharif/Rabi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3.99</c:v>
                </c:pt>
                <c:pt idx="1">
                  <c:v>3.71</c:v>
                </c:pt>
                <c:pt idx="2">
                  <c:v>1.45</c:v>
                </c:pt>
                <c:pt idx="3">
                  <c:v>1.72</c:v>
                </c:pt>
                <c:pt idx="4">
                  <c:v>1.23</c:v>
                </c:pt>
                <c:pt idx="5">
                  <c:v>1.16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A5A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Cold Storage</c:v>
                </c:pt>
              </c:strCache>
            </c:strRef>
          </c:tx>
          <c:spPr>
            <a:solidFill>
              <a:srgbClr val="2D5A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Spices</c:v>
                  </c:pt>
                  <c:pt idx="1">
                    <c:v>Fruits</c:v>
                  </c:pt>
                  <c:pt idx="2">
                    <c:v>Vegetables</c:v>
                  </c:pt>
                  <c:pt idx="3">
                    <c:v>Pulses</c:v>
                  </c:pt>
                  <c:pt idx="4">
                    <c:v>Cereals</c:v>
                  </c:pt>
                  <c:pt idx="5">
                    <c:v>Flowers</c:v>
                  </c:pt>
                  <c:pt idx="6">
                    <c:v>Livestock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5</c:v>
                </c:pt>
                <c:pt idx="2">
                  <c:v>43</c:v>
                </c:pt>
                <c:pt idx="3">
                  <c:v>22</c:v>
                </c:pt>
                <c:pt idx="4">
                  <c:v>17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Cold Storage Safe</c:v>
                </c:pt>
              </c:strCache>
            </c:strRef>
          </c:tx>
          <c:spPr>
            <a:solidFill>
              <a:srgbClr val="4A8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Spices</c:v>
                  </c:pt>
                  <c:pt idx="1">
                    <c:v>Fruits</c:v>
                  </c:pt>
                  <c:pt idx="2">
                    <c:v>Vegetables</c:v>
                  </c:pt>
                  <c:pt idx="3">
                    <c:v>Pulses</c:v>
                  </c:pt>
                  <c:pt idx="4">
                    <c:v>Cereals</c:v>
                  </c:pt>
                  <c:pt idx="5">
                    <c:v>Flowers</c:v>
                  </c:pt>
                  <c:pt idx="6">
                    <c:v>Livestock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</c:v>
                </c:pt>
                <c:pt idx="1">
                  <c:v>23</c:v>
                </c:pt>
                <c:pt idx="2">
                  <c:v>12</c:v>
                </c:pt>
                <c:pt idx="3">
                  <c:v>3</c:v>
                </c:pt>
                <c:pt idx="4">
                  <c:v>0</c:v>
                </c:pt>
                <c:pt idx="5">
                  <c:v>2</c:v>
                </c:pt>
                <c:pt idx="6">
                  <c:v>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Cold Sensitive</c:v>
                </c:pt>
              </c:strCache>
            </c:strRef>
          </c:tx>
          <c:spPr>
            <a:solidFill>
              <a:srgbClr val="C8DF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Spices</c:v>
                  </c:pt>
                  <c:pt idx="1">
                    <c:v>Fruits</c:v>
                  </c:pt>
                  <c:pt idx="2">
                    <c:v>Vegetables</c:v>
                  </c:pt>
                  <c:pt idx="3">
                    <c:v>Pulses</c:v>
                  </c:pt>
                  <c:pt idx="4">
                    <c:v>Cereals</c:v>
                  </c:pt>
                  <c:pt idx="5">
                    <c:v>Flowers</c:v>
                  </c:pt>
                  <c:pt idx="6">
                    <c:v>Livestock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5A5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Price (₹/kg)</c:v>
                </c:pt>
              </c:strCache>
            </c:strRef>
          </c:tx>
          <c:spPr>
            <a:solidFill>
              <a:srgbClr val="C88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82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A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82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82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821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3A2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821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821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E3A2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E3A2F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Cardamom</c:v>
                  </c:pt>
                  <c:pt idx="1">
                    <c:v>She Buffalo</c:v>
                  </c:pt>
                  <c:pt idx="2">
                    <c:v>Cashewnuts</c:v>
                  </c:pt>
                  <c:pt idx="3">
                    <c:v>Almond (Badam)</c:v>
                  </c:pt>
                  <c:pt idx="4">
                    <c:v>Black Pepper</c:v>
                  </c:pt>
                  <c:pt idx="5">
                    <c:v>Ghee</c:v>
                  </c:pt>
                  <c:pt idx="6">
                    <c:v>Cinnamon</c:v>
                  </c:pt>
                  <c:pt idx="7">
                    <c:v>Arecanut</c:v>
                  </c:pt>
                  <c:pt idx="8">
                    <c:v>Cow</c:v>
                  </c:pt>
                  <c:pt idx="9">
                    <c:v>Ox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2600</c:v>
                </c:pt>
                <c:pt idx="1">
                  <c:v>1100</c:v>
                </c:pt>
                <c:pt idx="2">
                  <c:v>1000</c:v>
                </c:pt>
                <c:pt idx="3">
                  <c:v>980</c:v>
                </c:pt>
                <c:pt idx="4">
                  <c:v>725</c:v>
                </c:pt>
                <c:pt idx="5">
                  <c:v>675</c:v>
                </c:pt>
                <c:pt idx="6">
                  <c:v>600</c:v>
                </c:pt>
                <c:pt idx="7">
                  <c:v>580</c:v>
                </c:pt>
                <c:pt idx="8">
                  <c:v>450</c:v>
                </c:pt>
                <c:pt idx="9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2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3A2F"/>
                </a:solidFill>
                <a:latin typeface="Arial"/>
              </a:rPr>
              <a:t>Category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821A"/>
              </a:solidFill>
              <a:effectLst/>
            </c:spPr>
          </c:dPt>
          <c:dPt>
            <c:idx val="1"/>
            <c:bubble3D val="0"/>
            <c:spPr>
              <a:solidFill>
                <a:srgbClr val="1E3A2F"/>
              </a:solidFill>
              <a:effectLst/>
            </c:spPr>
          </c:dPt>
          <c:dPt>
            <c:idx val="2"/>
            <c:bubble3D val="0"/>
            <c:spPr>
              <a:solidFill>
                <a:srgbClr val="4A8C5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Spices</c:v>
                </c:pt>
                <c:pt idx="1">
                  <c:v>Livestock</c:v>
                </c:pt>
                <c:pt idx="2">
                  <c:v>Fruits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Markup (×)</c:v>
                </c:pt>
              </c:strCache>
            </c:strRef>
          </c:tx>
          <c:spPr>
            <a:solidFill>
              <a:srgbClr val="1E3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8C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3A2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6B9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8C5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D5A4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B6B9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E3A2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A8C5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Hen</c:v>
                  </c:pt>
                  <c:pt idx="1">
                    <c:v>Strawberry</c:v>
                  </c:pt>
                  <c:pt idx="2">
                    <c:v>He Buffalo</c:v>
                  </c:pt>
                  <c:pt idx="3">
                    <c:v>Sheep</c:v>
                  </c:pt>
                  <c:pt idx="4">
                    <c:v>Chrysanthemum</c:v>
                  </c:pt>
                  <c:pt idx="5">
                    <c:v>Papaya</c:v>
                  </c:pt>
                  <c:pt idx="6">
                    <c:v>Green Chilli</c:v>
                  </c:pt>
                  <c:pt idx="7">
                    <c:v>Marigold</c:v>
                  </c:pt>
                  <c:pt idx="8">
                    <c:v>Goat</c:v>
                  </c:pt>
                  <c:pt idx="9">
                    <c:v>Ber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60.43</c:v>
                </c:pt>
                <c:pt idx="1">
                  <c:v>49</c:v>
                </c:pt>
                <c:pt idx="2">
                  <c:v>27</c:v>
                </c:pt>
                <c:pt idx="3">
                  <c:v>19</c:v>
                </c:pt>
                <c:pt idx="4">
                  <c:v>7.92</c:v>
                </c:pt>
                <c:pt idx="5">
                  <c:v>9</c:v>
                </c:pt>
                <c:pt idx="6">
                  <c:v>8</c:v>
                </c:pt>
                <c:pt idx="7">
                  <c:v>7.73</c:v>
                </c:pt>
                <c:pt idx="8">
                  <c:v>7.22</c:v>
                </c:pt>
                <c:pt idx="9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(r)</c:v>
                </c:pt>
              </c:strCache>
            </c:strRef>
          </c:tx>
          <c:spPr>
            <a:solidFill>
              <a:srgbClr val="4A8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5A5A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8C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62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7EB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Market Price
↔ Retail Price</c:v>
                  </c:pt>
                  <c:pt idx="1">
                    <c:v>Market Price
↔ Markup</c:v>
                  </c:pt>
                  <c:pt idx="2">
                    <c:v>Retail Price
↔ Markup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</c:v>
                </c:pt>
                <c:pt idx="1">
                  <c:v>-0.13</c:v>
                </c:pt>
                <c:pt idx="2">
                  <c:v>0.06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5A5A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-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1097280"/>
            <a:ext cx="3200400" cy="3200400"/>
          </a:xfrm>
          <a:prstGeom prst="ellipse">
            <a:avLst/>
          </a:prstGeom>
          <a:solidFill>
            <a:srgbClr val="4A8C5C">
              <a:alpha val="25000"/>
            </a:srgbClr>
          </a:solidFill>
          <a:ln w="12700">
            <a:solidFill>
              <a:srgbClr val="4A8C5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474720"/>
            <a:ext cx="2011680" cy="2011680"/>
          </a:xfrm>
          <a:prstGeom prst="ellipse">
            <a:avLst/>
          </a:prstGeom>
          <a:solidFill>
            <a:srgbClr val="C8821A">
              <a:alpha val="20000"/>
            </a:srgbClr>
          </a:solidFill>
          <a:ln w="12700">
            <a:solidFill>
              <a:srgbClr val="C8821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 Market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 Viability Study  ·  Market &amp; Retail Price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piplanapane.in · BigBasket  ·  165 Products · 7 Categories · Gujarat &amp; Maharashtra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40233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32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farmers earn a fraction of the retail price due to intermediaries, price volatility, and post-harvest losses — forcing distress selling.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40233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042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The Solution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 (D2C) models + cold-storage investment can close the gap between ₹45 farm-gate median and ₹202 avg retail price.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584448"/>
            <a:ext cx="40233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6758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Core Finding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931920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is driven by storage capability &amp; perishability, not base price. Cold-storage items earn 4.6× vs 1.5× markup for no-storage items.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804672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804672"/>
            <a:ext cx="54864" cy="1261872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914400"/>
            <a:ext cx="1847088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45736" y="1498702"/>
            <a:ext cx="18470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45736" y="1776313"/>
            <a:ext cx="1847088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804672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804672"/>
            <a:ext cx="54864" cy="1261872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914400"/>
            <a:ext cx="1847088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94576" y="1498702"/>
            <a:ext cx="18470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Market Price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94576" y="1776313"/>
            <a:ext cx="1847088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₹2,600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2194560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2194560"/>
            <a:ext cx="54864" cy="1261872"/>
          </a:xfrm>
          <a:prstGeom prst="rect">
            <a:avLst/>
          </a:prstGeom>
          <a:solidFill>
            <a:srgbClr val="3B7EBF"/>
          </a:solidFill>
          <a:ln w="12700">
            <a:solidFill>
              <a:srgbClr val="3B7E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2304288"/>
            <a:ext cx="1847088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45736" y="2888590"/>
            <a:ext cx="18470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Correlation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45736" y="3166201"/>
            <a:ext cx="1847088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↔ retail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194560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2194560"/>
            <a:ext cx="54864" cy="1261872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4576" y="2304288"/>
            <a:ext cx="1847088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60×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894576" y="2888590"/>
            <a:ext cx="18470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Markup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94576" y="3166201"/>
            <a:ext cx="1847088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 (livestock)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3584448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3584448"/>
            <a:ext cx="54864" cy="1261872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45736" y="3694176"/>
            <a:ext cx="1847088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4.6×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745736" y="4278478"/>
            <a:ext cx="18470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Storage Markup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45736" y="4556089"/>
            <a:ext cx="1847088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1.5× no storage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3584448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3584448"/>
            <a:ext cx="54864" cy="1261872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4576" y="3694176"/>
            <a:ext cx="1847088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894576" y="4278478"/>
            <a:ext cx="184708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Markup Items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94576" y="4556089"/>
            <a:ext cx="1847088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oversupply signals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5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4A8C5C">
              <a:alpha val="80000"/>
            </a:srgbClr>
          </a:solidFill>
          <a:ln w="12700">
            <a:solidFill>
              <a:srgbClr val="4A8C5C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10972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💰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Analysis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Distribution by Category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77724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852160" y="777240"/>
          <a:ext cx="3017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852160" y="34930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Type Distribution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852160" y="3794760"/>
            <a:ext cx="2971800" cy="868680"/>
          </a:xfrm>
          <a:prstGeom prst="rect">
            <a:avLst/>
          </a:prstGeom>
          <a:solidFill>
            <a:srgbClr val="FDF0D5"/>
          </a:solidFill>
          <a:ln w="12700">
            <a:solidFill>
              <a:srgbClr val="F5C4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852160" y="3794760"/>
            <a:ext cx="54864" cy="868680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89320" y="38862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989320" y="4123944"/>
            <a:ext cx="2788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 dominate (33%). No Cold Storage covers 46.7% of all products — highest post-harvest risk group.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Price vs Retail Price by Category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777240"/>
          <a:ext cx="55778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804672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804672"/>
            <a:ext cx="54864" cy="118872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54496" y="914400"/>
            <a:ext cx="25146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0.88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254496" y="1458468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Correlation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54496" y="171998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↔ Retail — strong positive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210312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26480" y="2103120"/>
            <a:ext cx="54864" cy="1188720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54496" y="2212848"/>
            <a:ext cx="25146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₹85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254496" y="2756916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Spread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54496" y="301843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minus Market per kg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26480" y="3401568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3401568"/>
            <a:ext cx="54864" cy="118872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54496" y="3511296"/>
            <a:ext cx="25146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₹2,600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254496" y="4055364"/>
            <a:ext cx="2514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Market Price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54496" y="431688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Cardamom (Spice)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Distribution — Right-Skewed Market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777240"/>
          <a:ext cx="4114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777240"/>
          <a:ext cx="4114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5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C8821A">
              <a:alpha val="80000"/>
            </a:srgbClr>
          </a:solidFill>
          <a:ln w="12700">
            <a:solidFill>
              <a:srgbClr val="C8821A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10972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📈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Markup &amp; Profit Analysis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Markup by Category — Livestock Dominates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777240"/>
          <a:ext cx="5394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989320" y="804672"/>
          <a:ext cx="28346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989320" y="3246120"/>
            <a:ext cx="2834640" cy="1508760"/>
          </a:xfrm>
          <a:prstGeom prst="rect">
            <a:avLst/>
          </a:prstGeom>
          <a:solidFill>
            <a:srgbClr val="FDF0D5"/>
          </a:solidFill>
          <a:ln w="12700">
            <a:solidFill>
              <a:srgbClr val="F5C4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989320" y="3246120"/>
            <a:ext cx="54864" cy="1508760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126480" y="3337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126480" y="3575304"/>
            <a:ext cx="26517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Storage Safe items earn 4.61× vs 1.52× for No Cold Storage — a 3× advantage. Storage enables selling at peak prices rather than distress selling at harvest.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Markup Distribution — 62% of Products Have Markup ≤ 1×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77724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804672"/>
            <a:ext cx="2926080" cy="36576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52160" y="804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Loss-Making Products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1207008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261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Ginger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0" y="12618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−0.42×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1682496"/>
            <a:ext cx="2926080" cy="438912"/>
          </a:xfrm>
          <a:prstGeom prst="rect">
            <a:avLst/>
          </a:prstGeom>
          <a:solidFill>
            <a:srgbClr val="FFF5F5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17373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Cardamom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89520" y="17373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−0.14×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2157984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212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Coconut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89520" y="22128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−0.05×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2160" y="2633472"/>
            <a:ext cx="2926080" cy="438912"/>
          </a:xfrm>
          <a:prstGeom prst="rect">
            <a:avLst/>
          </a:prstGeom>
          <a:solidFill>
            <a:srgbClr val="FFF5F5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2688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Jamun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589520" y="26883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−0.13×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52160" y="310896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0" y="31638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Kakada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589520" y="31638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−0.08×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52160" y="3584448"/>
            <a:ext cx="2926080" cy="438912"/>
          </a:xfrm>
          <a:prstGeom prst="rect">
            <a:avLst/>
          </a:prstGeom>
          <a:solidFill>
            <a:srgbClr val="FFF5F5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36393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Buffalo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589520" y="36393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−0.36×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852160" y="4096512"/>
            <a:ext cx="2926080" cy="658368"/>
          </a:xfrm>
          <a:prstGeom prst="rect">
            <a:avLst/>
          </a:prstGeom>
          <a:solidFill>
            <a:srgbClr val="FDF0D5"/>
          </a:solidFill>
          <a:ln w="12700">
            <a:solidFill>
              <a:srgbClr val="F5C4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852160" y="4096512"/>
            <a:ext cx="54864" cy="658368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89320" y="418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989320" y="44256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items have negative markup — oversupply or pricing inefficiency. Avoid without targeted strategy.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5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3B7EBF">
              <a:alpha val="80000"/>
            </a:srgbClr>
          </a:solidFill>
          <a:ln w="12700">
            <a:solidFill>
              <a:srgbClr val="3B7EBF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10972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🌡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&amp; Seasonality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Seasonality — All-Season Crops Lead in Markup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77724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65760" y="2788920"/>
          <a:ext cx="41148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777240"/>
          <a:ext cx="4160520" cy="3977640"/>
        </p:xfrm>
        <a:graphic>
          <a:graphicData uri="http://schemas.openxmlformats.org/drawingml/2006/table">
            <a:tbl>
              <a:tblPr/>
              <a:tblGrid>
                <a:gridCol w="832104"/>
                <a:gridCol w="832104"/>
                <a:gridCol w="832104"/>
                <a:gridCol w="832104"/>
                <a:gridCol w="832104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All-season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Kharif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Cereals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Livestock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Infrastructure — The Biggest Profit Lever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54864" cy="132588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914400"/>
            <a:ext cx="24688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4.61×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3776" y="1533906"/>
            <a:ext cx="246888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Storage Safe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" y="1825600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timed selling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73552" y="804672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804672"/>
            <a:ext cx="54864" cy="1325880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914400"/>
            <a:ext cx="24688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2.83×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01568" y="1533906"/>
            <a:ext cx="246888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Sensitive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1568" y="1825600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advantage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81344" y="804672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804672"/>
            <a:ext cx="54864" cy="132588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914400"/>
            <a:ext cx="24688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1.52×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1533906"/>
            <a:ext cx="246888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Cold Storage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1825600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distress sell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331720"/>
          <a:ext cx="84124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5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C8821A">
              <a:alpha val="80000"/>
            </a:srgbClr>
          </a:solidFill>
          <a:ln w="12700">
            <a:solidFill>
              <a:srgbClr val="C8821A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10972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🏆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Rankings &amp; Opportunities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Most Expensive Items (Market Price ₹/kg)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777240"/>
          <a:ext cx="55778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943600" y="777240"/>
          <a:ext cx="28346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943600" y="3291840"/>
            <a:ext cx="2834640" cy="1463040"/>
          </a:xfrm>
          <a:prstGeom prst="rect">
            <a:avLst/>
          </a:prstGeom>
          <a:solidFill>
            <a:srgbClr val="FDF0D5"/>
          </a:solidFill>
          <a:ln w="12700">
            <a:solidFill>
              <a:srgbClr val="F5C4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943600" y="3291840"/>
            <a:ext cx="54864" cy="1463040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080760" y="3383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3621024"/>
            <a:ext cx="2651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Spices dominate premium pricing (Cardamom ₹2,600). Livestock outliers (She Buffalo ₹1,100) suggest high-value niche for D2C.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Highest Markup Items — Best D2C Candidates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777240"/>
          <a:ext cx="55778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804672"/>
            <a:ext cx="28346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868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D2C Sweet Spot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35040" y="1170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Market Price + High Markup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0" y="1463040"/>
            <a:ext cx="2834640" cy="402336"/>
          </a:xfrm>
          <a:prstGeom prst="rect">
            <a:avLst/>
          </a:prstGeom>
          <a:solidFill>
            <a:srgbClr val="F0F7F2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1508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15200" y="15087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₹300/kg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09560" y="15087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60.4×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0" y="1892808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19385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Strawberry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315200" y="19385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₹80/kg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09560" y="19385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49.0×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43600" y="2322576"/>
            <a:ext cx="2834640" cy="402336"/>
          </a:xfrm>
          <a:prstGeom prst="rect">
            <a:avLst/>
          </a:prstGeom>
          <a:solidFill>
            <a:srgbClr val="F0F7F2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2368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Chilli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315200" y="23682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₹30/kg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09560" y="236829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8.0×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43600" y="2752344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27980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Chrysanthemum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315200" y="27980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₹20/kg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909560" y="279806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7.9×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943600" y="3182112"/>
            <a:ext cx="2834640" cy="402336"/>
          </a:xfrm>
          <a:prstGeom prst="rect">
            <a:avLst/>
          </a:prstGeom>
          <a:solidFill>
            <a:srgbClr val="F0F7F2"/>
          </a:solidFill>
          <a:ln w="6350">
            <a:solidFill>
              <a:srgbClr val="E8E3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35040" y="32278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Papaya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315200" y="32278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₹40/kg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909560" y="322783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9.0×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943600" y="3657600"/>
            <a:ext cx="2834640" cy="1097280"/>
          </a:xfrm>
          <a:prstGeom prst="rect">
            <a:avLst/>
          </a:prstGeom>
          <a:solidFill>
            <a:srgbClr val="FDF0D5"/>
          </a:solidFill>
          <a:ln w="12700">
            <a:solidFill>
              <a:srgbClr val="F5C4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943600" y="3657600"/>
            <a:ext cx="54864" cy="1097280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80760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080760" y="3986784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&amp; flowers offer extreme markups. Combined with D2C sales, farmers could capture 20–60× the farm-gate price.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Analysis — Pricing Dynamics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804672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23560" y="804672"/>
            <a:ext cx="3154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23560" y="804672"/>
            <a:ext cx="54864" cy="118872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9864" y="89611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769864" y="1371600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— retail price closely tracks market price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23560" y="2103120"/>
            <a:ext cx="3154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2103120"/>
            <a:ext cx="54864" cy="118872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9864" y="219456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−0.13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769864" y="2670048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negative — expensive items have LOWER markup potential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23560" y="3401568"/>
            <a:ext cx="3154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23560" y="3401568"/>
            <a:ext cx="54864" cy="1188720"/>
          </a:xfrm>
          <a:prstGeom prst="rect">
            <a:avLst/>
          </a:prstGeom>
          <a:solidFill>
            <a:srgbClr val="3B7EBF"/>
          </a:solidFill>
          <a:ln w="12700">
            <a:solidFill>
              <a:srgbClr val="3B7E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9864" y="349300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7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0.06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769864" y="3968496"/>
            <a:ext cx="2953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— retail price alone does not predict margins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" y="4206240"/>
            <a:ext cx="5029200" cy="640080"/>
          </a:xfrm>
          <a:prstGeom prst="rect">
            <a:avLst/>
          </a:prstGeom>
          <a:solidFill>
            <a:srgbClr val="FDF0D5"/>
          </a:solidFill>
          <a:ln w="12700">
            <a:solidFill>
              <a:srgbClr val="F5C4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4206240"/>
            <a:ext cx="54864" cy="640080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4297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" y="453542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4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perishables (flowers, livestock, fruits) are the real profit engines — not expensive spices. Price &amp; markup are nearly independent.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5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4A8C5C">
              <a:alpha val="80000"/>
            </a:srgbClr>
          </a:solidFill>
          <a:ln w="12700">
            <a:solidFill>
              <a:srgbClr val="4A8C5C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10972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🌱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&amp; Conclusion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Recommendations for Farmers &amp; Policymakers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416052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54864" cy="1261872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932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93268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Cold Storage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1316736"/>
            <a:ext cx="3959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Cold-storage-safe products earn 3× higher markup (4.6× vs 1.5×). Priority for Fruits, Flowers, and Livestock producers.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841248"/>
            <a:ext cx="416052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41248"/>
            <a:ext cx="54864" cy="1261872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932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8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93268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D2C Sales Channels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82896" y="1316736"/>
            <a:ext cx="3959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portal connecting farmers directly to consumers removes intermediaries and captures the ₹85/kg average price spread.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416052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12848"/>
            <a:ext cx="54864" cy="1261872"/>
          </a:xfrm>
          <a:prstGeom prst="rect">
            <a:avLst/>
          </a:prstGeom>
          <a:solidFill>
            <a:srgbClr val="3B7EBF"/>
          </a:solidFill>
          <a:ln w="12700">
            <a:solidFill>
              <a:srgbClr val="3B7E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304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7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" y="230428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High-Markup Crops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" y="2688336"/>
            <a:ext cx="3959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 (60×), Strawberry (49×), Flowers (7–8×) offer best profit potential for small-scale farmers with low capital.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12848"/>
            <a:ext cx="416052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12848"/>
            <a:ext cx="54864" cy="1261872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2304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6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21808" y="230428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Oversupply Traps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82896" y="2688336"/>
            <a:ext cx="3959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products have negative markup (cardamom, dry ginger, coconut). Farmers should avoid these without market coordination.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584448"/>
            <a:ext cx="416052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584448"/>
            <a:ext cx="54864" cy="1261872"/>
          </a:xfrm>
          <a:prstGeom prst="rect">
            <a:avLst/>
          </a:prstGeom>
          <a:solidFill>
            <a:srgbClr val="9B6B9B"/>
          </a:solidFill>
          <a:ln w="12700">
            <a:solidFill>
              <a:srgbClr val="9B6B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675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6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2688" y="367588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All-Season Products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" y="4059936"/>
            <a:ext cx="3959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All-season crops earn 4× avg markup vs 1.2× for Rabi crops. Plan crop mix to include all-season vegetables and fruits.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584448"/>
            <a:ext cx="416052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8E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84448"/>
            <a:ext cx="54864" cy="1261872"/>
          </a:xfrm>
          <a:prstGeom prst="rect">
            <a:avLst/>
          </a:prstGeom>
          <a:solidFill>
            <a:srgbClr val="2D5A40"/>
          </a:solidFill>
          <a:ln w="12700">
            <a:solidFill>
              <a:srgbClr val="2D5A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3675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21808" y="367588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Multi-Season Items Carefully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82896" y="4059936"/>
            <a:ext cx="3959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Multi-season has highest avg price (₹278/kg) but only 1.45× markup — high cost, lower margins. Price strategically.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2D5A40">
              <a:alpha val="40000"/>
            </a:srgbClr>
          </a:solidFill>
          <a:ln w="12700">
            <a:solidFill>
              <a:srgbClr val="2D5A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C8821A">
              <a:alpha val="25000"/>
            </a:srgbClr>
          </a:solidFill>
          <a:ln w="12700">
            <a:solidFill>
              <a:srgbClr val="C8821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821A"/>
          </a:solidFill>
          <a:ln w="12700">
            <a:solidFill>
              <a:srgbClr val="C88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C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 Farmers.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Eliminate Middlemen.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demonstrates that small farmers can substantially increase income through three levers: D2C market access, cold storage investment, and crop selection focused on high-markup perishables. The ₹85/kg average price spread represents untapped value currently captured by intermediaries.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4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₹85/kg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45994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C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Spread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0312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4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03120" y="45994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C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Corr.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4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40480" y="45994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C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Markup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57784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4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77840" y="45994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C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Markup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0" y="4160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4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0" y="45994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C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 Market Intelligence</dc:title>
  <dc:subject>PptxGenJS Presentation</dc:subject>
  <dc:creator>AgriSight</dc:creator>
  <cp:lastModifiedBy>AgriSight</cp:lastModifiedBy>
  <cp:revision>1</cp:revision>
  <dcterms:created xsi:type="dcterms:W3CDTF">2026-04-25T10:49:13Z</dcterms:created>
  <dcterms:modified xsi:type="dcterms:W3CDTF">2026-04-25T10:49:13Z</dcterms:modified>
</cp:coreProperties>
</file>